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85"/>
  </p:normalViewPr>
  <p:slideViewPr>
    <p:cSldViewPr snapToGrid="0">
      <p:cViewPr varScale="1">
        <p:scale>
          <a:sx n="134" d="100"/>
          <a:sy n="134" d="100"/>
        </p:scale>
        <p:origin x="704" y="18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10/19/26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10/19/26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10/19/26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</a:p>
          <a:p>
            <a:pPr marL="228600" lvl="1" indent="-228600"/>
            <a:r>
              <a:rPr lang="en-GB"/>
              <a:t>Second level</a:t>
            </a:r>
          </a:p>
          <a:p>
            <a:pPr marL="228600" lvl="2" indent="-228600"/>
            <a:r>
              <a:rPr lang="en-GB"/>
              <a:t>Third level</a:t>
            </a:r>
          </a:p>
          <a:p>
            <a:pPr marL="228600" lvl="3" indent="-228600"/>
            <a:r>
              <a:rPr lang="en-GB"/>
              <a:t>Fourth level</a:t>
            </a:r>
          </a:p>
          <a:p>
            <a:pPr marL="228600" lvl="4" indent="-228600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10/19/26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10/19/26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10/19/26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10/19/26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10/19/26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10/19/26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10/19/26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10/19/26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10/19/26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10/19/26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10/19/26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10/19/26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10/19/26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745" r:id="rId4"/>
    <p:sldLayoutId id="2147483659" r:id="rId5"/>
    <p:sldLayoutId id="2147483660" r:id="rId6"/>
    <p:sldLayoutId id="2147483661" r:id="rId7"/>
    <p:sldLayoutId id="2147483746" r:id="rId8"/>
    <p:sldLayoutId id="2147483663" r:id="rId9"/>
    <p:sldLayoutId id="2147483676" r:id="rId10"/>
    <p:sldLayoutId id="2147483680" r:id="rId11"/>
    <p:sldLayoutId id="2147483734" r:id="rId12"/>
    <p:sldLayoutId id="2147483751" r:id="rId13"/>
    <p:sldLayoutId id="2147483703" r:id="rId14"/>
    <p:sldLayoutId id="2147483752" r:id="rId15"/>
    <p:sldLayoutId id="2147483674" r:id="rId16"/>
    <p:sldLayoutId id="2147483669" r:id="rId17"/>
    <p:sldLayoutId id="2147483682" r:id="rId18"/>
    <p:sldLayoutId id="2147483719" r:id="rId19"/>
    <p:sldLayoutId id="2147483768" r:id="rId20"/>
    <p:sldLayoutId id="2147483713" r:id="rId21"/>
    <p:sldLayoutId id="2147483694" r:id="rId22"/>
    <p:sldLayoutId id="2147483695" r:id="rId23"/>
    <p:sldLayoutId id="2147483696" r:id="rId24"/>
    <p:sldLayoutId id="2147483697" r:id="rId25"/>
    <p:sldLayoutId id="2147483700" r:id="rId26"/>
    <p:sldLayoutId id="2147483701" r:id="rId27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org&amp;utm_campaign=index&amp;utm_content=thumbnai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8.org&amp;utm_campaign=index&amp;utm_content=thumbnai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3FCC-F692-1C71-2A6C-66B1DE06B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60" y="1039436"/>
            <a:ext cx="4800600" cy="2762187"/>
          </a:xfrm>
        </p:spPr>
        <p:txBody>
          <a:bodyPr/>
          <a:lstStyle/>
          <a:p>
            <a:r>
              <a:rPr lang="en-HU" b="1" dirty="0"/>
              <a:t>Mirai Ledger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7E7B4-443E-530B-56AA-A1A327313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0898" y="3801623"/>
            <a:ext cx="4067278" cy="1496616"/>
          </a:xfrm>
        </p:spPr>
        <p:txBody>
          <a:bodyPr/>
          <a:lstStyle/>
          <a:p>
            <a:r>
              <a:rPr lang="en-HU" b="1" i="1" dirty="0">
                <a:latin typeface="Neue Haas Grotesk Text Pro" panose="020B0504020202020204" pitchFamily="34" charset="77"/>
              </a:rPr>
              <a:t>Cél - funkciók – munka megoszlása - progress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F749F-1EE2-D256-4720-F39FCAE0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07995" y="308235"/>
            <a:ext cx="2703777" cy="338328"/>
          </a:xfrm>
        </p:spPr>
        <p:txBody>
          <a:bodyPr/>
          <a:lstStyle/>
          <a:p>
            <a:r>
              <a:rPr lang="en-US" dirty="0"/>
              <a:t>Vizsgaremek – Polesznyák Márk, Szücs Elizabet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1C4EB-5099-F53C-03A2-BB45A708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48176" y="308235"/>
            <a:ext cx="1495365" cy="338328"/>
          </a:xfrm>
        </p:spPr>
        <p:txBody>
          <a:bodyPr/>
          <a:lstStyle/>
          <a:p>
            <a:fld id="{21359139-99F8-4B6E-8834-95F2B9D91EE4}" type="datetime1">
              <a:rPr lang="en-US" smtClean="0"/>
              <a:pPr/>
              <a:t>10/19/26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12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2A2F9C2-B022-A246-DDD8-4FEA22C94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77" y="553186"/>
            <a:ext cx="5378267" cy="985658"/>
          </a:xfrm>
        </p:spPr>
        <p:txBody>
          <a:bodyPr/>
          <a:lstStyle/>
          <a:p>
            <a:r>
              <a:rPr lang="en-US" b="1" dirty="0"/>
              <a:t>Az alkalmazás célja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E2C0F-A79C-D08E-53A4-A0E7FCB4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anchor="ctr">
            <a:normAutofit/>
          </a:bodyPr>
          <a:lstStyle/>
          <a:p>
            <a:r>
              <a:rPr lang="en-US" dirty="0"/>
              <a:t>Vizsgaremek – Polesznyák Márk, Szücs Elizabet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13FC4-436C-83B2-1066-FBF03CA7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4BE14B8-5058-4271-B378-2217DE83796E}" type="datetime1">
              <a:rPr lang="en-US" smtClean="0"/>
              <a:pPr>
                <a:spcAft>
                  <a:spcPts val="600"/>
                </a:spcAft>
              </a:pPr>
              <a:t>10/19/26</a:t>
            </a:fld>
            <a:endParaRPr lang="en-US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C14A10F9-9CBE-5ACD-086E-D0FE7559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6" y="1766150"/>
            <a:ext cx="5378268" cy="4538664"/>
          </a:xfrm>
        </p:spPr>
        <p:txBody>
          <a:bodyPr/>
          <a:lstStyle/>
          <a:p>
            <a:pPr marL="342900" lvl="0" indent="-342900">
              <a:buFont typeface="System Font Regular"/>
              <a:buChar char="💜"/>
            </a:pPr>
            <a:r>
              <a:rPr lang="en-HU" dirty="0"/>
              <a:t>Segít nyomon követni a </a:t>
            </a:r>
            <a:r>
              <a:rPr lang="en-HU" b="1" dirty="0"/>
              <a:t>kiadásokat, bevételeket és a havi költségvetést</a:t>
            </a:r>
            <a:endParaRPr lang="en-HU" dirty="0"/>
          </a:p>
          <a:p>
            <a:pPr marL="342900" lvl="0" indent="-342900">
              <a:buFont typeface="System Font Regular"/>
              <a:buChar char="💜"/>
            </a:pPr>
            <a:r>
              <a:rPr lang="en-HU" b="1" dirty="0"/>
              <a:t>Letisztult, felhasználóbarát kialakítás</a:t>
            </a:r>
            <a:r>
              <a:rPr lang="en-HU" dirty="0"/>
              <a:t>: a lényegre fókuszál, bárki használhatja bármilyen pénzügyi háttértudás nélkül</a:t>
            </a:r>
          </a:p>
          <a:p>
            <a:pPr marL="342900" lvl="0" indent="-342900">
              <a:buFont typeface="System Font Regular"/>
              <a:buChar char="💜"/>
            </a:pPr>
            <a:r>
              <a:rPr lang="en-HU" b="1" dirty="0"/>
              <a:t>Tranzakciókezelés</a:t>
            </a:r>
            <a:r>
              <a:rPr lang="en-HU" dirty="0"/>
              <a:t>: egyszeri és ismétlődő tételek rögzítése, egyéni kategóriákkal, kereséssel és szűréssel</a:t>
            </a:r>
          </a:p>
          <a:p>
            <a:pPr marL="342900" lvl="0" indent="-342900">
              <a:buFont typeface="System Font Regular"/>
              <a:buChar char="💜"/>
            </a:pPr>
            <a:r>
              <a:rPr lang="en-HU" b="1" dirty="0"/>
              <a:t>Kiadáselemzés</a:t>
            </a:r>
            <a:r>
              <a:rPr lang="en-HU" dirty="0"/>
              <a:t>: havi bevétel/kiadás áttekintés, egyenleg (megtakarítás vagy túlköltekezés) és grafikonok</a:t>
            </a:r>
          </a:p>
          <a:p>
            <a:pPr marL="342900" lvl="0" indent="-342900">
              <a:buFont typeface="System Font Regular"/>
              <a:buChar char="💜"/>
            </a:pPr>
            <a:r>
              <a:rPr lang="en-HU" b="1" dirty="0"/>
              <a:t>Rendszeres fizetések</a:t>
            </a:r>
            <a:r>
              <a:rPr lang="en-HU" dirty="0"/>
              <a:t>: heti, havi vagy éves ismétlődő tranzakciók beütemezése, hogy semmi ne maradjon le</a:t>
            </a:r>
          </a:p>
          <a:p>
            <a:pPr marL="342900" lvl="0" indent="-342900">
              <a:buFont typeface="System Font Regular"/>
              <a:buChar char="💜"/>
            </a:pPr>
            <a:r>
              <a:rPr lang="en-HU" b="1" dirty="0"/>
              <a:t>Célközönség</a:t>
            </a:r>
            <a:r>
              <a:rPr lang="en-HU" dirty="0"/>
              <a:t>: diákok, családok, szakemberek, vagyis bárki, aki átláthatóbban szeretné kezelni a pénzét</a:t>
            </a:r>
          </a:p>
          <a:p>
            <a:pPr marL="342900" lvl="0" indent="-342900">
              <a:buFont typeface="System Font Regular"/>
              <a:buChar char="💜"/>
            </a:pPr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140455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C8767-18FC-B590-71E8-B3EB1048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Vizsgaremek – Polesznyák Márk, Szücs Elizabet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EC83F-DC54-94F7-F091-461BBCEF3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22ABD-C052-4D3A-818B-C58AFC20B321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3D8BDB-AB78-418B-C73B-00B7DC34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838936"/>
            <a:ext cx="8483007" cy="1408964"/>
          </a:xfrm>
        </p:spPr>
        <p:txBody>
          <a:bodyPr>
            <a:noAutofit/>
          </a:bodyPr>
          <a:lstStyle/>
          <a:p>
            <a:r>
              <a:rPr lang="en-US" sz="4800" b="1" dirty="0"/>
              <a:t>Tervezett funkciók: </a:t>
            </a:r>
            <a:br>
              <a:rPr lang="en-US" sz="4800" b="1" dirty="0"/>
            </a:br>
            <a:r>
              <a:rPr lang="en-US" sz="4800" b="1" dirty="0"/>
              <a:t>UI, alapfunkciók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090E45D-8260-F80C-97CC-6B59880B4883}"/>
              </a:ext>
            </a:extLst>
          </p:cNvPr>
          <p:cNvSpPr txBox="1">
            <a:spLocks/>
          </p:cNvSpPr>
          <p:nvPr/>
        </p:nvSpPr>
        <p:spPr>
          <a:xfrm>
            <a:off x="432393" y="2495550"/>
            <a:ext cx="5378268" cy="35075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System Font Regular"/>
              <a:buChar char="💜"/>
            </a:pPr>
            <a:r>
              <a:rPr lang="en-HU" dirty="0"/>
              <a:t>Light/Dark mode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Nyelv választás, elsőkörben angol, magyar, német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Színtéma választás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Kiírja a közelgő megújuló tranzakciókat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A felhasználó ki tud alakítani címkézett perselyeket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Tranzakciók hozzáadása, egyszeri vagy megújuló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Hónap szerint kategorizál és ment minden tranzakciót</a:t>
            </a:r>
          </a:p>
        </p:txBody>
      </p:sp>
    </p:spTree>
    <p:extLst>
      <p:ext uri="{BB962C8B-B14F-4D97-AF65-F5344CB8AC3E}">
        <p14:creationId xmlns:p14="http://schemas.microsoft.com/office/powerpoint/2010/main" val="39852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A7DB4-7E36-C265-D7D0-F5DCF656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FA923-7BE4-D56E-177A-105C01C2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Vizsgaremek – Polesznyák Márk, Szücs Elizabet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BE969-A509-8B86-A69E-17A2AE33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22ABD-C052-4D3A-818B-C58AFC20B321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500C47B-2F86-420D-61F2-A4D04888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838936"/>
            <a:ext cx="8483007" cy="1408964"/>
          </a:xfrm>
        </p:spPr>
        <p:txBody>
          <a:bodyPr>
            <a:noAutofit/>
          </a:bodyPr>
          <a:lstStyle/>
          <a:p>
            <a:r>
              <a:rPr lang="en-US" sz="4800" b="1" dirty="0"/>
              <a:t>Tervezett funkciók: </a:t>
            </a:r>
            <a:br>
              <a:rPr lang="en-US" sz="4800" b="1" dirty="0"/>
            </a:br>
            <a:r>
              <a:rPr lang="en-US" sz="4800" b="1" dirty="0"/>
              <a:t>Statisztika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DE82360-AD99-1FF6-16B9-137A6195727C}"/>
              </a:ext>
            </a:extLst>
          </p:cNvPr>
          <p:cNvSpPr txBox="1">
            <a:spLocks/>
          </p:cNvSpPr>
          <p:nvPr/>
        </p:nvSpPr>
        <p:spPr>
          <a:xfrm>
            <a:off x="432393" y="2781300"/>
            <a:ext cx="5378268" cy="35075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System Font Regular"/>
              <a:buChar char="💜"/>
            </a:pPr>
            <a:r>
              <a:rPr lang="en-HU" dirty="0"/>
              <a:t>Havi bevétel, kiadás kiírása (grafikonnal)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Megmutatja mennyi pluszban/minuszban vagy az adott hónap után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PDF nyomtatás a statisztikákból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Listázza az utolsó 10 tranzakciót</a:t>
            </a:r>
          </a:p>
          <a:p>
            <a:pPr marL="285750" indent="-285750">
              <a:buFont typeface="System Font Regular"/>
              <a:buChar char="💜"/>
            </a:pPr>
            <a:r>
              <a:rPr lang="en-HU" dirty="0"/>
              <a:t>Keresés és filterezés a tranzakciók közt (dátum, kategória, stb.)</a:t>
            </a:r>
          </a:p>
          <a:p>
            <a:pPr marL="285750" lvl="0" indent="-285750">
              <a:buFont typeface="System Font Regular"/>
              <a:buChar char="💜"/>
            </a:pPr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412461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B123-3963-8AD6-5C1E-9572228F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4F7AA-1355-C412-C9B3-0F62FA14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Vizsgaremek – Polesznyák Márk, Szücs Elizabet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7FBFC-FF9C-F842-209E-91A996D2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22ABD-C052-4D3A-818B-C58AFC20B321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E37D58-0853-5869-2378-FD6D6954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838936"/>
            <a:ext cx="8483007" cy="1408964"/>
          </a:xfrm>
        </p:spPr>
        <p:txBody>
          <a:bodyPr>
            <a:noAutofit/>
          </a:bodyPr>
          <a:lstStyle/>
          <a:p>
            <a:r>
              <a:rPr lang="en-US" sz="4800" b="1" dirty="0"/>
              <a:t>Tervezett funkciók: </a:t>
            </a:r>
            <a:br>
              <a:rPr lang="en-US" sz="4800" b="1" dirty="0"/>
            </a:br>
            <a:r>
              <a:rPr lang="en-US" sz="4800" b="1" dirty="0"/>
              <a:t>Tranzakciókezelő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6D94EB9-393D-BE75-6D4F-378A5D9734D9}"/>
              </a:ext>
            </a:extLst>
          </p:cNvPr>
          <p:cNvSpPr txBox="1">
            <a:spLocks/>
          </p:cNvSpPr>
          <p:nvPr/>
        </p:nvSpPr>
        <p:spPr>
          <a:xfrm>
            <a:off x="432393" y="2781300"/>
            <a:ext cx="5378268" cy="35075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System Font Regular"/>
              <a:buChar char="💜"/>
            </a:pPr>
            <a:r>
              <a:rPr lang="en-HU" b="1" dirty="0"/>
              <a:t>Tranzakciók felvétele, kezelése</a:t>
            </a:r>
            <a:endParaRPr lang="en-HU" dirty="0"/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Megadható kategória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Név, összeg megadása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Opcionálisan hozzácsatolható számla / egyéb dokumentum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Tranzakció dátuma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HU" dirty="0"/>
              <a:t>Megújuló / egyszeri tranzakció</a:t>
            </a:r>
          </a:p>
        </p:txBody>
      </p:sp>
    </p:spTree>
    <p:extLst>
      <p:ext uri="{BB962C8B-B14F-4D97-AF65-F5344CB8AC3E}">
        <p14:creationId xmlns:p14="http://schemas.microsoft.com/office/powerpoint/2010/main" val="112928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B88DAA-3010-1717-8A31-4F79C4CF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935222"/>
            <a:ext cx="7609668" cy="1734866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b="1" dirty="0"/>
              <a:t>Munka felosztása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C483C-CA64-64E3-9D7C-34B9D6B6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baseline="0" dirty="0">
                <a:latin typeface="+mn-lt"/>
                <a:ea typeface="+mn-ea"/>
                <a:cs typeface="+mn-cs"/>
              </a:rPr>
              <a:t>Vizsgaremek – Polesznyák Márk, Szücs Elizabet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6DAAF-FCB4-C091-F9A6-4E1384F2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1006E0F-42A5-451E-8A36-26756F7C34E0}" type="datetime1">
              <a:rPr lang="en-US" smtClean="0"/>
              <a:pPr>
                <a:spcAft>
                  <a:spcPts val="600"/>
                </a:spcAft>
              </a:pPr>
              <a:t>10/19/26</a:t>
            </a:fld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F2ECB77-7C90-EC85-754B-331CDCD83EED}"/>
              </a:ext>
            </a:extLst>
          </p:cNvPr>
          <p:cNvSpPr txBox="1">
            <a:spLocks/>
          </p:cNvSpPr>
          <p:nvPr/>
        </p:nvSpPr>
        <p:spPr>
          <a:xfrm>
            <a:off x="432393" y="2252680"/>
            <a:ext cx="8801100" cy="2947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System Font Regular"/>
              <a:buChar char="💜"/>
            </a:pPr>
            <a:r>
              <a:rPr lang="en-US" b="1" dirty="0"/>
              <a:t>Design</a:t>
            </a:r>
            <a:r>
              <a:rPr lang="en-US" dirty="0"/>
              <a:t>: Szücs Elizabet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US" b="1" dirty="0"/>
              <a:t>Frontend</a:t>
            </a:r>
            <a:r>
              <a:rPr lang="en-US" dirty="0"/>
              <a:t>: Szücs Elizabet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US" b="1" dirty="0"/>
              <a:t>API design</a:t>
            </a:r>
            <a:r>
              <a:rPr lang="en-US" dirty="0"/>
              <a:t>: Polesznyák Márk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US" b="1" dirty="0"/>
              <a:t>Backend</a:t>
            </a:r>
            <a:r>
              <a:rPr lang="en-US" dirty="0"/>
              <a:t>: Polesznyák Márk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US" b="1" dirty="0"/>
              <a:t>Adatbázis</a:t>
            </a:r>
            <a:r>
              <a:rPr lang="en-US" dirty="0"/>
              <a:t>: Polesznyák Márk, Szücs Elizabet</a:t>
            </a:r>
          </a:p>
          <a:p>
            <a:pPr marL="285750" indent="-285750">
              <a:buFont typeface="System Font Regular"/>
              <a:buChar char="💜"/>
            </a:pPr>
            <a:r>
              <a:rPr lang="en-US" b="1" dirty="0"/>
              <a:t>Progression log</a:t>
            </a:r>
            <a:r>
              <a:rPr lang="en-US" dirty="0"/>
              <a:t>: Szücs Elizabet</a:t>
            </a:r>
          </a:p>
          <a:p>
            <a:pPr marL="285750" lvl="0" indent="-285750">
              <a:buFont typeface="System Font Regular"/>
              <a:buChar char="💜"/>
            </a:pPr>
            <a:r>
              <a:rPr lang="en-US" b="1" dirty="0"/>
              <a:t>Dokumentáció elkészítése</a:t>
            </a:r>
            <a:r>
              <a:rPr lang="en-US" dirty="0"/>
              <a:t>: Polesznyák Márk</a:t>
            </a:r>
          </a:p>
        </p:txBody>
      </p:sp>
    </p:spTree>
    <p:extLst>
      <p:ext uri="{BB962C8B-B14F-4D97-AF65-F5344CB8AC3E}">
        <p14:creationId xmlns:p14="http://schemas.microsoft.com/office/powerpoint/2010/main" val="259948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30A50-C875-ECDA-22AC-9F8085FD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Vizsgaremek – Polesznyák Márk, Szücs Elizabet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83CE7-82EE-F776-FAC8-8D06F419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9139-99F8-4B6E-8834-95F2B9D91EE4}" type="datetime1">
              <a:rPr lang="en-US" smtClean="0"/>
              <a:pPr/>
              <a:t>10/19/26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73D32-5F7C-CF04-264E-F95C5711A95C}"/>
              </a:ext>
            </a:extLst>
          </p:cNvPr>
          <p:cNvSpPr txBox="1"/>
          <p:nvPr/>
        </p:nvSpPr>
        <p:spPr>
          <a:xfrm>
            <a:off x="2320342" y="1015395"/>
            <a:ext cx="6915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U" sz="2800" b="1" dirty="0"/>
              <a:t>MIRAI L</a:t>
            </a:r>
            <a:r>
              <a:rPr lang="en-GB" sz="2800" b="1" dirty="0"/>
              <a:t>E</a:t>
            </a:r>
            <a:r>
              <a:rPr lang="en-HU" sz="2800" b="1" dirty="0"/>
              <a:t>DGER WEBES ALKALMAZÁS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F441B1-4BBF-491A-9DE5-C431A204E228}"/>
              </a:ext>
            </a:extLst>
          </p:cNvPr>
          <p:cNvCxnSpPr>
            <a:cxnSpLocks/>
          </p:cNvCxnSpPr>
          <p:nvPr/>
        </p:nvCxnSpPr>
        <p:spPr>
          <a:xfrm flipH="1">
            <a:off x="5629084" y="1512333"/>
            <a:ext cx="1" cy="2593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0A593B-06C6-B16B-B654-22809C418B28}"/>
              </a:ext>
            </a:extLst>
          </p:cNvPr>
          <p:cNvCxnSpPr>
            <a:cxnSpLocks/>
          </p:cNvCxnSpPr>
          <p:nvPr/>
        </p:nvCxnSpPr>
        <p:spPr>
          <a:xfrm>
            <a:off x="2469706" y="1800225"/>
            <a:ext cx="65293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2244F2-8AD0-45F1-9B1A-8C038190E01C}"/>
              </a:ext>
            </a:extLst>
          </p:cNvPr>
          <p:cNvCxnSpPr>
            <a:cxnSpLocks/>
          </p:cNvCxnSpPr>
          <p:nvPr/>
        </p:nvCxnSpPr>
        <p:spPr>
          <a:xfrm flipH="1">
            <a:off x="5629084" y="1790699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4EB945-6D3D-F555-36DE-14BDB1717BFF}"/>
              </a:ext>
            </a:extLst>
          </p:cNvPr>
          <p:cNvCxnSpPr>
            <a:cxnSpLocks/>
          </p:cNvCxnSpPr>
          <p:nvPr/>
        </p:nvCxnSpPr>
        <p:spPr>
          <a:xfrm flipH="1">
            <a:off x="8999036" y="1800225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A8C425-13B8-E293-1F87-909847BD935F}"/>
              </a:ext>
            </a:extLst>
          </p:cNvPr>
          <p:cNvSpPr txBox="1"/>
          <p:nvPr/>
        </p:nvSpPr>
        <p:spPr>
          <a:xfrm>
            <a:off x="4894638" y="2209798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FRONTEND</a:t>
            </a:r>
            <a:endParaRPr lang="en-HU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5BED7-3C77-E855-2B4B-8C709DC3D49D}"/>
              </a:ext>
            </a:extLst>
          </p:cNvPr>
          <p:cNvSpPr txBox="1"/>
          <p:nvPr/>
        </p:nvSpPr>
        <p:spPr>
          <a:xfrm>
            <a:off x="8495210" y="2219323"/>
            <a:ext cx="1007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OTHER</a:t>
            </a:r>
            <a:endParaRPr lang="en-HU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872756-50E2-AA57-25D3-C88C6E455454}"/>
              </a:ext>
            </a:extLst>
          </p:cNvPr>
          <p:cNvCxnSpPr>
            <a:cxnSpLocks/>
          </p:cNvCxnSpPr>
          <p:nvPr/>
        </p:nvCxnSpPr>
        <p:spPr>
          <a:xfrm flipH="1">
            <a:off x="5629084" y="2533793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A001AD-1A8C-FB89-AF01-A4ECB4751916}"/>
              </a:ext>
            </a:extLst>
          </p:cNvPr>
          <p:cNvCxnSpPr>
            <a:cxnSpLocks/>
          </p:cNvCxnSpPr>
          <p:nvPr/>
        </p:nvCxnSpPr>
        <p:spPr>
          <a:xfrm flipH="1">
            <a:off x="8999034" y="2588655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F2CEDB-6876-F6BE-BAAC-2736A6FF71C8}"/>
              </a:ext>
            </a:extLst>
          </p:cNvPr>
          <p:cNvCxnSpPr>
            <a:cxnSpLocks/>
          </p:cNvCxnSpPr>
          <p:nvPr/>
        </p:nvCxnSpPr>
        <p:spPr>
          <a:xfrm>
            <a:off x="2469706" y="1800225"/>
            <a:ext cx="0" cy="4190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B990D5D-8E56-2772-AB98-C1BD199B3EF4}"/>
              </a:ext>
            </a:extLst>
          </p:cNvPr>
          <p:cNvSpPr txBox="1"/>
          <p:nvPr/>
        </p:nvSpPr>
        <p:spPr>
          <a:xfrm>
            <a:off x="1795162" y="2256206"/>
            <a:ext cx="134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BACKEND</a:t>
            </a:r>
            <a:endParaRPr lang="en-HU" b="1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1872C2E-1E7C-3CFC-AE34-B708380D783C}"/>
              </a:ext>
            </a:extLst>
          </p:cNvPr>
          <p:cNvCxnSpPr>
            <a:cxnSpLocks/>
          </p:cNvCxnSpPr>
          <p:nvPr/>
        </p:nvCxnSpPr>
        <p:spPr>
          <a:xfrm flipH="1">
            <a:off x="2469704" y="2579130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React Logo - PNG Logo Vector Brand Downloads (SVG, EPS)">
            <a:extLst>
              <a:ext uri="{FF2B5EF4-FFF2-40B4-BE49-F238E27FC236}">
                <a16:creationId xmlns:a16="http://schemas.microsoft.com/office/drawing/2014/main" id="{A50055F3-60E5-CEC0-C6CA-3AC40F81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577" y="3007754"/>
            <a:ext cx="1583241" cy="890573"/>
          </a:xfrm>
          <a:prstGeom prst="rect">
            <a:avLst/>
          </a:prstGeom>
        </p:spPr>
      </p:pic>
      <p:pic>
        <p:nvPicPr>
          <p:cNvPr id="33" name="Graphic 32" descr="Rust Icon &amp; Logo | Dashboard Icons &amp; Logos">
            <a:extLst>
              <a:ext uri="{FF2B5EF4-FFF2-40B4-BE49-F238E27FC236}">
                <a16:creationId xmlns:a16="http://schemas.microsoft.com/office/drawing/2014/main" id="{54BB0752-A18A-02E8-B216-8087A191B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6899" y="3081518"/>
            <a:ext cx="1065610" cy="106561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BC2631-957D-7D6F-C28C-F933DE84FC32}"/>
              </a:ext>
            </a:extLst>
          </p:cNvPr>
          <p:cNvCxnSpPr>
            <a:cxnSpLocks/>
          </p:cNvCxnSpPr>
          <p:nvPr/>
        </p:nvCxnSpPr>
        <p:spPr>
          <a:xfrm flipH="1">
            <a:off x="2469703" y="4230417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31CCBA8-DB19-FCEE-B205-DD3768B4E3CA}"/>
              </a:ext>
            </a:extLst>
          </p:cNvPr>
          <p:cNvSpPr txBox="1"/>
          <p:nvPr/>
        </p:nvSpPr>
        <p:spPr>
          <a:xfrm>
            <a:off x="1795162" y="4649516"/>
            <a:ext cx="1440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DATABASE</a:t>
            </a:r>
            <a:endParaRPr lang="en-HU" b="1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D97124B-0E46-89B4-B472-2768A851B33F}"/>
              </a:ext>
            </a:extLst>
          </p:cNvPr>
          <p:cNvCxnSpPr>
            <a:cxnSpLocks/>
          </p:cNvCxnSpPr>
          <p:nvPr/>
        </p:nvCxnSpPr>
        <p:spPr>
          <a:xfrm flipH="1">
            <a:off x="2469702" y="5018848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Download MySQL Logo in SVG Vector or PNG File Format - Logo.wine">
            <a:extLst>
              <a:ext uri="{FF2B5EF4-FFF2-40B4-BE49-F238E27FC236}">
                <a16:creationId xmlns:a16="http://schemas.microsoft.com/office/drawing/2014/main" id="{3729FD88-4621-025E-667C-B04269DA9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5" y="4989445"/>
            <a:ext cx="1927020" cy="1284680"/>
          </a:xfrm>
          <a:prstGeom prst="rect">
            <a:avLst/>
          </a:prstGeom>
        </p:spPr>
      </p:pic>
      <p:pic>
        <p:nvPicPr>
          <p:cNvPr id="40" name="Picture 39" descr="File:Jira Logo.svg - Wikimedia Commons">
            <a:extLst>
              <a:ext uri="{FF2B5EF4-FFF2-40B4-BE49-F238E27FC236}">
                <a16:creationId xmlns:a16="http://schemas.microsoft.com/office/drawing/2014/main" id="{827581A8-4D8C-BB60-B7BA-79BB2BD44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3113251"/>
            <a:ext cx="965595" cy="406355"/>
          </a:xfrm>
          <a:prstGeom prst="rect">
            <a:avLst/>
          </a:prstGeom>
        </p:spPr>
      </p:pic>
      <p:pic>
        <p:nvPicPr>
          <p:cNvPr id="41" name="Picture 40" descr="Figma Logo with Colorful Circles PNG">
            <a:extLst>
              <a:ext uri="{FF2B5EF4-FFF2-40B4-BE49-F238E27FC236}">
                <a16:creationId xmlns:a16="http://schemas.microsoft.com/office/drawing/2014/main" id="{3B9250CD-ACD3-A1BA-C589-10975B016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5666" y="3029847"/>
            <a:ext cx="1199088" cy="573164"/>
          </a:xfrm>
          <a:prstGeom prst="rect">
            <a:avLst/>
          </a:prstGeom>
        </p:spPr>
      </p:pic>
      <p:pic>
        <p:nvPicPr>
          <p:cNvPr id="45" name="Picture 44" descr="File:CSS3 logo and wordmark.svg - Wikimedia Commons">
            <a:extLst>
              <a:ext uri="{FF2B5EF4-FFF2-40B4-BE49-F238E27FC236}">
                <a16:creationId xmlns:a16="http://schemas.microsoft.com/office/drawing/2014/main" id="{43C56772-3902-8219-5EAD-2595C7F4A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9254" y="5057402"/>
            <a:ext cx="673990" cy="951309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CAF42A8-2580-EC6E-C7A5-40C55E9B764A}"/>
              </a:ext>
            </a:extLst>
          </p:cNvPr>
          <p:cNvCxnSpPr>
            <a:cxnSpLocks/>
          </p:cNvCxnSpPr>
          <p:nvPr/>
        </p:nvCxnSpPr>
        <p:spPr>
          <a:xfrm flipH="1">
            <a:off x="5606249" y="3650778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3DB1EFA-C191-1B9F-3BB5-0073D2566C2B}"/>
              </a:ext>
            </a:extLst>
          </p:cNvPr>
          <p:cNvSpPr txBox="1"/>
          <p:nvPr/>
        </p:nvSpPr>
        <p:spPr>
          <a:xfrm>
            <a:off x="5131407" y="4142285"/>
            <a:ext cx="949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STYLE</a:t>
            </a:r>
            <a:endParaRPr lang="en-HU" b="1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B110085-8786-DA8C-9B4B-7437DDE9B70A}"/>
              </a:ext>
            </a:extLst>
          </p:cNvPr>
          <p:cNvCxnSpPr>
            <a:cxnSpLocks/>
          </p:cNvCxnSpPr>
          <p:nvPr/>
        </p:nvCxnSpPr>
        <p:spPr>
          <a:xfrm flipH="1">
            <a:off x="5606249" y="4511617"/>
            <a:ext cx="1" cy="419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3490A18-A9F4-0F94-A5DA-A8D5EA0E8B96}"/>
              </a:ext>
            </a:extLst>
          </p:cNvPr>
          <p:cNvSpPr txBox="1">
            <a:spLocks/>
          </p:cNvSpPr>
          <p:nvPr/>
        </p:nvSpPr>
        <p:spPr>
          <a:xfrm>
            <a:off x="446229" y="1115568"/>
            <a:ext cx="4392471" cy="1409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dirty="0"/>
              <a:t>Jelenleg itt tartunk: </a:t>
            </a:r>
          </a:p>
          <a:p>
            <a:pPr>
              <a:spcAft>
                <a:spcPts val="600"/>
              </a:spcAft>
            </a:pPr>
            <a:r>
              <a:rPr lang="en-US" b="1" dirty="0"/>
              <a:t>Design tervek (Figma)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9E21E-6469-447D-75CF-B3E76DBD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baseline="0">
                <a:effectLst/>
                <a:latin typeface="+mn-lt"/>
                <a:ea typeface="+mn-ea"/>
                <a:cs typeface="+mn-cs"/>
              </a:rPr>
              <a:t>Vizsgaremek – Polesznyák Márk, Szücs Elizabet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55C6E-CD95-0E93-C954-7437573E39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6CB2F34-49A1-4C07-91D5-90BE967306D3}" type="datetime1">
              <a:rPr lang="en-US" smtClean="0"/>
              <a:pPr>
                <a:spcAft>
                  <a:spcPts val="600"/>
                </a:spcAft>
              </a:pPr>
              <a:t>10/19/26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90B3C3-9C35-DCCA-11E4-FA7403CA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11" r="27658" b="-1"/>
          <a:stretch>
            <a:fillRect/>
          </a:stretch>
        </p:blipFill>
        <p:spPr>
          <a:xfrm>
            <a:off x="446230" y="2705100"/>
            <a:ext cx="3603256" cy="36957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3EDAB4-16D3-1C03-7D85-F82C87AB0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0510"/>
          <a:stretch>
            <a:fillRect/>
          </a:stretch>
        </p:blipFill>
        <p:spPr>
          <a:xfrm>
            <a:off x="4935269" y="1175658"/>
            <a:ext cx="7256731" cy="56823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680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423E-CA18-4310-1765-04AFE085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6E4042D-C8E7-8490-D8EC-CC6C1D738F41}"/>
              </a:ext>
            </a:extLst>
          </p:cNvPr>
          <p:cNvSpPr txBox="1">
            <a:spLocks/>
          </p:cNvSpPr>
          <p:nvPr/>
        </p:nvSpPr>
        <p:spPr>
          <a:xfrm>
            <a:off x="2886882" y="723242"/>
            <a:ext cx="7609668" cy="17348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b="1" dirty="0"/>
              <a:t>Progression log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3FDF8-635F-4E22-B160-7F66D888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baseline="0">
                <a:effectLst/>
                <a:latin typeface="+mn-lt"/>
                <a:ea typeface="+mn-ea"/>
                <a:cs typeface="+mn-cs"/>
              </a:rPr>
              <a:t>Vizsgaremek – Polesznyák Márk, Szücs Elizabet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22D66-CD0E-5346-B15A-8D896D7DF7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6CB2F34-49A1-4C07-91D5-90BE967306D3}" type="datetime1">
              <a:rPr lang="en-US" smtClean="0"/>
              <a:pPr>
                <a:spcAft>
                  <a:spcPts val="600"/>
                </a:spcAft>
              </a:pPr>
              <a:t>10/19/26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F74D8E-F3C3-2050-407C-04D6613BB7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17" b="-19779"/>
          <a:stretch>
            <a:fillRect/>
          </a:stretch>
        </p:blipFill>
        <p:spPr>
          <a:xfrm>
            <a:off x="1695450" y="1590675"/>
            <a:ext cx="8801100" cy="5267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1990071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126</TotalTime>
  <Words>352</Words>
  <Application>Microsoft Macintosh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Neue Haas Grotesk Text Pro</vt:lpstr>
      <vt:lpstr>System Font Regular</vt:lpstr>
      <vt:lpstr>Film Burn</vt:lpstr>
      <vt:lpstr>Mirai Ledger</vt:lpstr>
      <vt:lpstr>Az alkalmazás célja</vt:lpstr>
      <vt:lpstr>Tervezett funkciók:  UI, alapfunkciók</vt:lpstr>
      <vt:lpstr>Tervezett funkciók:  Statisztika</vt:lpstr>
      <vt:lpstr>Tervezett funkciók:  Tranzakciókezelő</vt:lpstr>
      <vt:lpstr>Munka felosztása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 Szücs</dc:creator>
  <cp:lastModifiedBy>Elizabet Szücs</cp:lastModifiedBy>
  <cp:revision>1</cp:revision>
  <dcterms:created xsi:type="dcterms:W3CDTF">2026-10-19T06:23:42Z</dcterms:created>
  <dcterms:modified xsi:type="dcterms:W3CDTF">2026-10-19T08:29:59Z</dcterms:modified>
</cp:coreProperties>
</file>